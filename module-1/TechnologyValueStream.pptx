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1" d="100"/>
          <a:sy n="211" d="100"/>
        </p:scale>
        <p:origin x="35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E44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E44"/>
                </a:solidFill>
                <a:latin typeface="Arial"/>
              </a:rPr>
              <a:t>Deployment Lead Time (days)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Deployment Lead Time (days)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30D-4378-995A-608DFA50E14A}"/>
              </c:ext>
            </c:extLst>
          </c:dPt>
          <c:dPt>
            <c:idx val="1"/>
            <c:invertIfNegative val="0"/>
            <c:bubble3D val="0"/>
            <c:spPr>
              <a:solidFill>
                <a:srgbClr val="0E9A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30D-4378-995A-608DFA50E14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E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Traditional Scenario</c:v>
                </c:pt>
                <c:pt idx="1">
                  <c:v>DevOps Ideal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30D-4378-995A-608DFA50E1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E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9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E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0959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4183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5713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22669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64710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9251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828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419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1385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2282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8083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679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7070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52879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44866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74002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21185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1834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4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58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3063240"/>
            <a:ext cx="8321040" cy="777240"/>
          </a:xfrm>
          <a:prstGeom prst="rect">
            <a:avLst/>
          </a:prstGeom>
          <a:solidFill>
            <a:srgbClr val="1B2E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</a:t>
            </a:r>
            <a:endParaRPr lang="en-US" sz="4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3063240"/>
            <a:ext cx="8321040" cy="7772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E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Principles, Lead Time, and the Path to Continuous Delivery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50569" y="476665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CSD380-340A DevOps  |  Module 1.2  |  Bellevue University |NOOR A AL |06/04/2026 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0E9AA7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0" y="640080"/>
            <a:ext cx="1554480" cy="1554480"/>
          </a:xfrm>
          <a:prstGeom prst="ellipse">
            <a:avLst/>
          </a:prstGeom>
          <a:solidFill>
            <a:srgbClr val="0E9AA7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57200" cy="384048"/>
          </a:xfrm>
          <a:prstGeom prst="rect">
            <a:avLst/>
          </a:prstGeom>
          <a:solidFill>
            <a:srgbClr val="0E9AA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91440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Technology Value Stream?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57200" cy="384048"/>
          </a:xfrm>
          <a:prstGeom prst="rect">
            <a:avLst/>
          </a:prstGeom>
          <a:solidFill>
            <a:srgbClr val="0E9AA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4630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vs. Processing Time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57200" cy="384048"/>
          </a:xfrm>
          <a:prstGeom prst="rect">
            <a:avLst/>
          </a:prstGeom>
          <a:solidFill>
            <a:srgbClr val="0E9AA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1168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Scenario: Months of Deployment Lead Time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57200" cy="384048"/>
          </a:xfrm>
          <a:prstGeom prst="rect">
            <a:avLst/>
          </a:prstGeom>
          <a:solidFill>
            <a:srgbClr val="0E9AA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56032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DevOps Ideal: Deployment Lead Times of Minutes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57200" cy="384048"/>
          </a:xfrm>
          <a:prstGeom prst="rect">
            <a:avLst/>
          </a:prstGeom>
          <a:solidFill>
            <a:srgbClr val="0E9AA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10896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Visual Comparison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457200" cy="384048"/>
          </a:xfrm>
          <a:prstGeom prst="rect">
            <a:avLst/>
          </a:prstGeom>
          <a:solidFill>
            <a:srgbClr val="0E9AA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65760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DevOps Practices to Achieve the Ideal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457200" cy="384048"/>
          </a:xfrm>
          <a:prstGeom prst="rect">
            <a:avLst/>
          </a:prstGeom>
          <a:solidFill>
            <a:srgbClr val="0E9AA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2062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Takeaways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TECHNOLOGY VALUE STREAM?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051560"/>
          </a:xfrm>
          <a:prstGeom prst="rect">
            <a:avLst/>
          </a:prstGeom>
          <a:solidFill>
            <a:srgbClr val="1B2E4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91440" cy="105156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required to convert a business hypothesis into a technology-enabled service that delivers value to the customer.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743200" cy="256032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743200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 or feature request enters the value stream — a hypothesis about what customers need.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2103120"/>
            <a:ext cx="2743200" cy="256032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2103120"/>
            <a:ext cx="2743200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2044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8803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design, code, test, and integrate changes across Dev, QA, IT Operations, and Security.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2103120"/>
            <a:ext cx="2743200" cy="256032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92240" y="2103120"/>
            <a:ext cx="2743200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28803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 reaches production, delivering real value and enabling feedback loops.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3383280"/>
            <a:ext cx="320040" cy="0"/>
          </a:xfrm>
          <a:prstGeom prst="line">
            <a:avLst/>
          </a:prstGeom>
          <a:noFill/>
          <a:ln w="3175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72200" y="3383280"/>
            <a:ext cx="320040" cy="0"/>
          </a:xfrm>
          <a:prstGeom prst="line">
            <a:avLst/>
          </a:prstGeom>
          <a:noFill/>
          <a:ln w="3175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99911" y="493119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Kim, G., Humble, J., Debois, P., &amp; Willis, J. (2016). The DevOps Handbook. IT Revolution Press</a:t>
            </a:r>
            <a:r>
              <a:rPr lang="en-US" sz="800" i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vs. PROCESSING TIME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77640" cy="32004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E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elapsed time from when a work request is made until it is completed and delivered.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from: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creation → deployment to production.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wait times, queue times, handoff delays, and actual work 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868680"/>
            <a:ext cx="3977640" cy="3200400"/>
          </a:xfrm>
          <a:prstGeom prst="rect">
            <a:avLst/>
          </a:prstGeom>
          <a:solidFill>
            <a:srgbClr val="0E9AA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9601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spent actively working on a task — when resources are devoted to fulfilling the request.
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time or active work time.
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 is always a fraction of lead time. The gap reveals wasted wait time in the value stream.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%Complete &amp; Accurate: The percentage of work passed to the next step without rework — a critical quality metric (Kim et al., 2016, p. 9)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THE VALUE STREAM TIMELINE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C9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◄─────────────────────  LEAD TIME  ─────────────────────►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508760" cy="1371600"/>
          </a:xfrm>
          <a:prstGeom prst="rect">
            <a:avLst/>
          </a:prstGeom>
          <a:solidFill>
            <a:srgbClr val="162D45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508760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E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9601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08760" y="2423160"/>
            <a:ext cx="365760" cy="27432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0876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03120" y="1508760"/>
            <a:ext cx="1508760" cy="1371600"/>
          </a:xfrm>
          <a:prstGeom prst="rect">
            <a:avLst/>
          </a:prstGeom>
          <a:solidFill>
            <a:srgbClr val="1A355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03120" y="1508760"/>
            <a:ext cx="1508760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03120" y="15544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E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560" y="2423160"/>
            <a:ext cx="9601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54680" y="2423160"/>
            <a:ext cx="365760" cy="27432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94560" y="24231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5468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49040" y="1508760"/>
            <a:ext cx="1508760" cy="1371600"/>
          </a:xfrm>
          <a:prstGeom prst="rect">
            <a:avLst/>
          </a:prstGeom>
          <a:solidFill>
            <a:srgbClr val="1E3D5C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49040" y="1508760"/>
            <a:ext cx="1508760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49040" y="15544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E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0" y="2423160"/>
            <a:ext cx="9601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2423160"/>
            <a:ext cx="365760" cy="27432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0" y="24231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0060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394960" y="1508760"/>
            <a:ext cx="1508760" cy="1371600"/>
          </a:xfrm>
          <a:prstGeom prst="rect">
            <a:avLst/>
          </a:prstGeom>
          <a:solidFill>
            <a:srgbClr val="22456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394960" y="1508760"/>
            <a:ext cx="1508760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94960" y="15544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E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0" y="2423160"/>
            <a:ext cx="9601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46520" y="2423160"/>
            <a:ext cx="365760" cy="27432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0" y="24231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4652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40880" y="1508760"/>
            <a:ext cx="1508760" cy="1371600"/>
          </a:xfrm>
          <a:prstGeom prst="rect">
            <a:avLst/>
          </a:prstGeom>
          <a:solidFill>
            <a:srgbClr val="264D7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040880" y="1508760"/>
            <a:ext cx="1508760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40880" y="15544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E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132320" y="2423160"/>
            <a:ext cx="9601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092440" y="2423160"/>
            <a:ext cx="365760" cy="27432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32320" y="24231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9244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43000" y="2834640"/>
            <a:ext cx="6949440" cy="457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◄──  PROCESSING TIME (active work only — a small fraction of lead time)  ──►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429000"/>
            <a:ext cx="320040" cy="2011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2960" y="3429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/ Queue Time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91840" y="3429000"/>
            <a:ext cx="320040" cy="201168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0" y="34290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Processing Time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from: Kim et al. (2016). The DevOps Handbook, pp. 9–10.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SCENARIO: DEPLOYMENT LEAD TIMES OF MONTHS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286000" cy="201168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Deployment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841248"/>
            <a:ext cx="5852160" cy="8229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0" y="841248"/>
            <a:ext cx="91440" cy="822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4680" y="8869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Ticketing Queues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54680" y="1188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requests sit in backlogs for weeks before anyone begins.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1801368"/>
            <a:ext cx="5852160" cy="8229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26080" y="1801368"/>
            <a:ext cx="91440" cy="822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1847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Delays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54680" y="2148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passes between Dev, QA, Security, and Ops — each transition adds wait time.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2761488"/>
            <a:ext cx="5852160" cy="8229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26080" y="2761488"/>
            <a:ext cx="91440" cy="822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54680" y="28072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Infrequent Deployments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54680" y="3108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risky batch deployments occur monthly or quarterly due to fear of breaking production.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3721608"/>
            <a:ext cx="5852160" cy="8229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26080" y="3721608"/>
            <a:ext cx="91440" cy="822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54680" y="37673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Automation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54680" y="4069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testing, change approval boards, and manual deployments slow delivery significantly.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Kim et al. (2016). The DevOps Handbook, p. 10.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DEVOPS IDEAL: DEPLOYMENT LEAD TIMES OF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286000" cy="2011680"/>
          </a:xfrm>
          <a:prstGeom prst="rect">
            <a:avLst/>
          </a:prstGeom>
          <a:solidFill>
            <a:srgbClr val="0E9AA7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Deployment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841248"/>
            <a:ext cx="5852160" cy="8229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0" y="841248"/>
            <a:ext cx="91440" cy="82296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4680" y="8869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CI/CD Pipelines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54680" y="1188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commits trigger automated build, test, and deploy pipelines — removing manual bottlenecks.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1801368"/>
            <a:ext cx="5852160" cy="8229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26080" y="1801368"/>
            <a:ext cx="91440" cy="82296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1847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Batch Deployments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54680" y="2148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Frequent, small releases reduce risk and allow fast detection of issues.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2761488"/>
            <a:ext cx="5852160" cy="8229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26080" y="2761488"/>
            <a:ext cx="91440" cy="82296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54680" y="28072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54680" y="3108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Ops, and Security collaborate throughout — not at handoff points only.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3721608"/>
            <a:ext cx="5852160" cy="8229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26080" y="3721608"/>
            <a:ext cx="91440" cy="82296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54680" y="37673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 Loops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54680" y="4069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and monitoring give developers immediate signals when something breaks.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Kim et al. (2016). The DevOps Handbook, p. 10.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TRADITIONAL vs. DEVOPS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22960"/>
          <a:ext cx="50292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868680"/>
          <a:ext cx="3291840" cy="29260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 Ideal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Frequency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/ Quarterly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times daily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to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to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Fail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(&gt;30%)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(&lt;15%)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MTTR*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or less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577840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*MTTR: Mean Time to Restore Service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Kim et al. (2016). The DevOps Handbook, p. 10; Forsgren, N., Humble, J., &amp; Kim, G. (2018). Accelerate. IT Revolution Press.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DEVOPS PRACTICES TO ACHIEVE THE IDEAL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38912" cy="109728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38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merge code frequently; automated builds and tests run on every commit.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02336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38912" cy="109728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868680"/>
            <a:ext cx="438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7800" y="9601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32588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 change is automatically staged so deployment is a business decision, not a technical risk.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02336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438912" cy="109728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148840"/>
            <a:ext cx="438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22402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60604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are version-controlled and reproducible, eliminating configuration drift.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148840"/>
            <a:ext cx="402336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148840"/>
            <a:ext cx="438912" cy="109728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148840"/>
            <a:ext cx="438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57800" y="22402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260604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and acceptance tests run automatically, catching defects before production.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402336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429000"/>
            <a:ext cx="438912" cy="109728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438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4400" y="35204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 Mapping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38862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visualize the entire flow to identify and eliminate wait times, handoffs, and bottlenecks.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429000"/>
            <a:ext cx="402336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3429000"/>
            <a:ext cx="438912" cy="109728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3429000"/>
            <a:ext cx="438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57800" y="35204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Postmortems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38862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learning opportunities — building psychological safety and systemic improvement.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76656"/>
          </a:xfrm>
          <a:prstGeom prst="rect">
            <a:avLst/>
          </a:prstGeom>
          <a:solidFill>
            <a:srgbClr val="1B2E4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73152" cy="676656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822960"/>
            <a:ext cx="8092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Value Stream maps the full journey from business idea to customer value — spanning Dev, QA, Security, and Ops.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676656"/>
          </a:xfrm>
          <a:prstGeom prst="rect">
            <a:avLst/>
          </a:prstGeom>
          <a:solidFill>
            <a:srgbClr val="1B2E4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73152" cy="676656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627632"/>
            <a:ext cx="8092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measures total elapsed time; Processing Time measures only active work. The gap between them reveals waste.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32304"/>
            <a:ext cx="8412480" cy="676656"/>
          </a:xfrm>
          <a:prstGeom prst="rect">
            <a:avLst/>
          </a:prstGeom>
          <a:solidFill>
            <a:srgbClr val="1B2E4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73152" cy="676656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432304"/>
            <a:ext cx="8092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deployment lead times of months create fragile, risky systems with slow feedback and high change failure rates.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36976"/>
            <a:ext cx="8412480" cy="676656"/>
          </a:xfrm>
          <a:prstGeom prst="rect">
            <a:avLst/>
          </a:prstGeom>
          <a:solidFill>
            <a:srgbClr val="1B2E4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236976"/>
            <a:ext cx="73152" cy="676656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236976"/>
            <a:ext cx="8092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DevOps ideal — deployment lead times of minutes — is achieved through automation, small batches, and shared responsibility.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41648"/>
            <a:ext cx="8412480" cy="676656"/>
          </a:xfrm>
          <a:prstGeom prst="rect">
            <a:avLst/>
          </a:prstGeom>
          <a:solidFill>
            <a:srgbClr val="1B2E4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4041648"/>
            <a:ext cx="73152" cy="676656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4041648"/>
            <a:ext cx="8092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and continuously improving the value stream is the foundation of DevOps transformation.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Kim, G., Humble, J., Debois, P., &amp; Willis, J. (2016). The DevOps Handbook. IT Revolution Press.  |  Forsgren, N., Humble, J., &amp; Kim, G. (2018). Accelerate. IT Revolution Press.</a:t>
            </a:r>
            <a:endParaRPr lang="en-US" sz="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5</TotalTime>
  <Words>1004</Words>
  <Application>Microsoft Office PowerPoint</Application>
  <PresentationFormat>On-screen Show (16:9)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Technology Value Stream</dc:title>
  <dc:subject>PptxGenJS Presentation</dc:subject>
  <dc:creator>Noor</dc:creator>
  <cp:lastModifiedBy>Noor Al salihi</cp:lastModifiedBy>
  <cp:revision>2</cp:revision>
  <dcterms:created xsi:type="dcterms:W3CDTF">2026-06-04T07:43:27Z</dcterms:created>
  <dcterms:modified xsi:type="dcterms:W3CDTF">2026-06-04T07:51:39Z</dcterms:modified>
</cp:coreProperties>
</file>